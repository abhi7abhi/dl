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900" b="1">
                <a:solidFill>
                  <a:srgbClr val="F5F8FC"/>
                </a:solidFill>
              </a:defRPr>
            </a:pPr>
            <a:r>
              <a:t>What is Artificial Intelligence?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41148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AFBED2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6853223" cy="212365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5F8FC"/>
                </a:solidFill>
              </a:defRPr>
            </a:pPr>
            <a:r>
              <a:rPr dirty="0"/>
              <a:t>What is Artificial Intelligence?</a:t>
            </a:r>
          </a:p>
          <a:p>
            <a:pPr>
              <a:spcBef>
                <a:spcPts val="1200"/>
              </a:spcBef>
              <a:defRPr sz="2200">
                <a:solidFill>
                  <a:srgbClr val="AFBED2"/>
                </a:solidFill>
              </a:defRPr>
            </a:pPr>
            <a:r>
              <a:rPr dirty="0"/>
              <a:t>Deep Learning Assignment</a:t>
            </a:r>
          </a:p>
          <a:p>
            <a:pPr>
              <a:spcBef>
                <a:spcPts val="1200"/>
              </a:spcBef>
              <a:defRPr sz="1900">
                <a:solidFill>
                  <a:srgbClr val="AFBED2"/>
                </a:solidFill>
              </a:defRPr>
            </a:pPr>
            <a:r>
              <a:rPr dirty="0"/>
              <a:t>Presented by: </a:t>
            </a:r>
            <a:r>
              <a:rPr lang="en-GB" dirty="0"/>
              <a:t>Abhinav Abhilash</a:t>
            </a:r>
            <a:endParaRPr dirty="0"/>
          </a:p>
          <a:p>
            <a:pPr>
              <a:spcBef>
                <a:spcPts val="1200"/>
              </a:spcBef>
              <a:defRPr sz="1900">
                <a:solidFill>
                  <a:srgbClr val="AFBED2"/>
                </a:solidFill>
              </a:defRPr>
            </a:pPr>
            <a:r>
              <a:rPr dirty="0"/>
              <a:t>USN/Roll No.: </a:t>
            </a:r>
            <a:r>
              <a:rPr lang="en-GB" dirty="0"/>
              <a:t>2411021240029</a:t>
            </a:r>
            <a:endParaRPr dirty="0"/>
          </a:p>
        </p:txBody>
      </p:sp>
      <p:sp>
        <p:nvSpPr>
          <p:cNvPr id="6" name="Oval 5"/>
          <p:cNvSpPr/>
          <p:nvPr/>
        </p:nvSpPr>
        <p:spPr>
          <a:xfrm>
            <a:off x="9235440" y="1828800"/>
            <a:ext cx="1920240" cy="1920240"/>
          </a:xfrm>
          <a:prstGeom prst="ellipse">
            <a:avLst/>
          </a:prstGeom>
          <a:solidFill>
            <a:srgbClr val="142A46"/>
          </a:solidFill>
          <a:ln w="25400">
            <a:solidFill>
              <a:srgbClr val="50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64040" y="2423160"/>
            <a:ext cx="1463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50AAFF"/>
                </a:solidFill>
              </a:defRPr>
            </a:pPr>
            <a:r>
              <a:t>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900" b="1">
                <a:solidFill>
                  <a:srgbClr val="F5F8FC"/>
                </a:solidFill>
              </a:defRPr>
            </a:pPr>
            <a:r>
              <a:t>What is Artificial Intelligence?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41148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AFBED2"/>
                </a:solidFill>
              </a:defRPr>
            </a:pPr>
            <a: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>
                <a:solidFill>
                  <a:srgbClr val="F5F8FC"/>
                </a:solidFill>
              </a:defRPr>
            </a:pPr>
            <a:r>
              <a:t>• AI enables computers and machines to perform tasks that normally require human intelligence.</a:t>
            </a:r>
          </a:p>
          <a:p>
            <a:pPr>
              <a:spcAft>
                <a:spcPts val="1500"/>
              </a:spcAft>
              <a:defRPr sz="2000">
                <a:solidFill>
                  <a:srgbClr val="F5F8FC"/>
                </a:solidFill>
              </a:defRPr>
            </a:pPr>
            <a:r>
              <a:t>• AI can learn from data, understand language, recognize images, solve problems, and make decisions.</a:t>
            </a:r>
          </a:p>
          <a:p>
            <a:pPr>
              <a:spcAft>
                <a:spcPts val="1500"/>
              </a:spcAft>
              <a:defRPr sz="2000">
                <a:solidFill>
                  <a:srgbClr val="F5F8FC"/>
                </a:solidFill>
              </a:defRPr>
            </a:pPr>
            <a:r>
              <a:t>• Example: Google Maps uses AI to predict traffic and suggest routes.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84080" y="5440680"/>
            <a:ext cx="1554480" cy="594360"/>
          </a:xfrm>
          <a:prstGeom prst="roundRect">
            <a:avLst/>
          </a:prstGeom>
          <a:solidFill>
            <a:srgbClr val="142A46"/>
          </a:solidFill>
          <a:ln>
            <a:solidFill>
              <a:srgbClr val="50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93808" y="5559552"/>
            <a:ext cx="1325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50AAFF"/>
                </a:solidFill>
              </a:defRPr>
            </a:pPr>
            <a:r>
              <a:t>AI • ML • DL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900" b="1">
                <a:solidFill>
                  <a:srgbClr val="F5F8FC"/>
                </a:solidFill>
              </a:defRPr>
            </a:pPr>
            <a:r>
              <a:t>History of Artificial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41148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AFBED2"/>
                </a:solidFill>
              </a:defRPr>
            </a:pPr>
            <a: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>
                <a:solidFill>
                  <a:srgbClr val="F5F8FC"/>
                </a:solidFill>
              </a:defRPr>
            </a:pPr>
            <a:r>
              <a:t>• 1950 – Alan Turing proposed a test for machine intelligence.</a:t>
            </a:r>
          </a:p>
          <a:p>
            <a:pPr>
              <a:spcAft>
                <a:spcPts val="1500"/>
              </a:spcAft>
              <a:defRPr sz="2000">
                <a:solidFill>
                  <a:srgbClr val="F5F8FC"/>
                </a:solidFill>
              </a:defRPr>
            </a:pPr>
            <a:r>
              <a:t>• 1956 – The term “Artificial Intelligence” was introduced at the Dartmouth conference.</a:t>
            </a:r>
          </a:p>
          <a:p>
            <a:pPr>
              <a:spcAft>
                <a:spcPts val="1500"/>
              </a:spcAft>
              <a:defRPr sz="2000">
                <a:solidFill>
                  <a:srgbClr val="F5F8FC"/>
                </a:solidFill>
              </a:defRPr>
            </a:pPr>
            <a:r>
              <a:t>• 1960s–70s – Early AI programs and research systems developed.</a:t>
            </a:r>
          </a:p>
          <a:p>
            <a:pPr>
              <a:spcAft>
                <a:spcPts val="1500"/>
              </a:spcAft>
              <a:defRPr sz="2000">
                <a:solidFill>
                  <a:srgbClr val="F5F8FC"/>
                </a:solidFill>
              </a:defRPr>
            </a:pPr>
            <a:r>
              <a:t>• 1997 – IBM Deep Blue defeated chess champion Garry Kasparov.</a:t>
            </a:r>
          </a:p>
          <a:p>
            <a:pPr>
              <a:spcAft>
                <a:spcPts val="1500"/>
              </a:spcAft>
              <a:defRPr sz="2000">
                <a:solidFill>
                  <a:srgbClr val="F5F8FC"/>
                </a:solidFill>
              </a:defRPr>
            </a:pPr>
            <a:r>
              <a:t>• 2010s–Today – Machine learning, deep learning and generative AI expanded rapidly.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84080" y="5440680"/>
            <a:ext cx="1554480" cy="594360"/>
          </a:xfrm>
          <a:prstGeom prst="roundRect">
            <a:avLst/>
          </a:prstGeom>
          <a:solidFill>
            <a:srgbClr val="142A46"/>
          </a:solidFill>
          <a:ln>
            <a:solidFill>
              <a:srgbClr val="50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93808" y="5559552"/>
            <a:ext cx="1325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50AAFF"/>
                </a:solidFill>
              </a:defRPr>
            </a:pPr>
            <a:r>
              <a:t>AI • ML • DL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900" b="1">
                <a:solidFill>
                  <a:srgbClr val="F5F8FC"/>
                </a:solidFill>
              </a:defRPr>
            </a:pPr>
            <a:r>
              <a:t>Types of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41148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AFBED2"/>
                </a:solidFill>
              </a:defRPr>
            </a:pPr>
            <a: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>
                <a:solidFill>
                  <a:srgbClr val="F5F8FC"/>
                </a:solidFill>
              </a:defRPr>
            </a:pPr>
            <a:r>
              <a:t>• 1. Narrow AI – Designed for a specific task. Examples: voice assistants, recommendations, facial recognition.</a:t>
            </a:r>
          </a:p>
          <a:p>
            <a:pPr>
              <a:spcAft>
                <a:spcPts val="1500"/>
              </a:spcAft>
              <a:defRPr sz="2000">
                <a:solidFill>
                  <a:srgbClr val="F5F8FC"/>
                </a:solidFill>
              </a:defRPr>
            </a:pPr>
            <a:r>
              <a:t>• 2. General AI – A theoretical AI able to perform many intellectual tasks like a human; not yet achieved.</a:t>
            </a:r>
          </a:p>
          <a:p>
            <a:pPr>
              <a:spcAft>
                <a:spcPts val="1500"/>
              </a:spcAft>
              <a:defRPr sz="2000">
                <a:solidFill>
                  <a:srgbClr val="F5F8FC"/>
                </a:solidFill>
              </a:defRPr>
            </a:pPr>
            <a:r>
              <a:t>• 3. Super AI – A theoretical form that would surpass human intelligence; does not currently exist.</a:t>
            </a:r>
          </a:p>
          <a:p>
            <a:pPr>
              <a:spcAft>
                <a:spcPts val="1500"/>
              </a:spcAft>
              <a:defRPr sz="2000">
                <a:solidFill>
                  <a:srgbClr val="F5F8FC"/>
                </a:solidFill>
              </a:defRPr>
            </a:pPr>
            <a:r>
              <a:t>• Easy to remember: Narrow = one task | General = many tasks | Super = beyond humans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84080" y="5440680"/>
            <a:ext cx="1554480" cy="594360"/>
          </a:xfrm>
          <a:prstGeom prst="roundRect">
            <a:avLst/>
          </a:prstGeom>
          <a:solidFill>
            <a:srgbClr val="142A46"/>
          </a:solidFill>
          <a:ln>
            <a:solidFill>
              <a:srgbClr val="50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93808" y="5559552"/>
            <a:ext cx="1325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50AAFF"/>
                </a:solidFill>
              </a:defRPr>
            </a:pPr>
            <a:r>
              <a:t>AI • ML • DL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900" b="1">
                <a:solidFill>
                  <a:srgbClr val="F5F8FC"/>
                </a:solidFill>
              </a:defRPr>
            </a:pPr>
            <a:r>
              <a:t>How Does AI Work?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41148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AFBED2"/>
                </a:solidFill>
              </a:defRPr>
            </a:pPr>
            <a: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>
                <a:solidFill>
                  <a:srgbClr val="F5F8FC"/>
                </a:solidFill>
              </a:defRPr>
            </a:pPr>
            <a:r>
              <a:t>• Basic process: Data → Algorithm → Training → Learning → Prediction / Decision</a:t>
            </a:r>
          </a:p>
          <a:p>
            <a:pPr>
              <a:spcAft>
                <a:spcPts val="1500"/>
              </a:spcAft>
              <a:defRPr sz="2000">
                <a:solidFill>
                  <a:srgbClr val="F5F8FC"/>
                </a:solidFill>
              </a:defRPr>
            </a:pPr>
            <a:r>
              <a:t>• Example: To recognize cats, an AI model learns patterns from thousands of labeled cat images.</a:t>
            </a:r>
          </a:p>
          <a:p>
            <a:pPr>
              <a:spcAft>
                <a:spcPts val="1500"/>
              </a:spcAft>
              <a:defRPr sz="2000">
                <a:solidFill>
                  <a:srgbClr val="F5F8FC"/>
                </a:solidFill>
              </a:defRPr>
            </a:pPr>
            <a:r>
              <a:t>• Related technologies: Machine Learning, Deep Learning, NLP, Computer Vision, Robotics.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84080" y="5440680"/>
            <a:ext cx="1554480" cy="594360"/>
          </a:xfrm>
          <a:prstGeom prst="roundRect">
            <a:avLst/>
          </a:prstGeom>
          <a:solidFill>
            <a:srgbClr val="142A46"/>
          </a:solidFill>
          <a:ln>
            <a:solidFill>
              <a:srgbClr val="50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93808" y="5559552"/>
            <a:ext cx="1325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50AAFF"/>
                </a:solidFill>
              </a:defRPr>
            </a:pPr>
            <a:r>
              <a:t>AI • ML • DL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900" b="1">
                <a:solidFill>
                  <a:srgbClr val="F5F8FC"/>
                </a:solidFill>
              </a:defRPr>
            </a:pPr>
            <a:r>
              <a:t>Real-Life Examples of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41148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AFBED2"/>
                </a:solidFill>
              </a:defRPr>
            </a:pPr>
            <a: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>
                <a:solidFill>
                  <a:srgbClr val="F5F8FC"/>
                </a:solidFill>
              </a:defRPr>
            </a:pPr>
            <a:r>
              <a:t>• Smartphones – Face unlock and voice assistants</a:t>
            </a:r>
          </a:p>
          <a:p>
            <a:pPr>
              <a:spcAft>
                <a:spcPts val="1500"/>
              </a:spcAft>
              <a:defRPr sz="2000">
                <a:solidFill>
                  <a:srgbClr val="F5F8FC"/>
                </a:solidFill>
              </a:defRPr>
            </a:pPr>
            <a:r>
              <a:t>• Navigation – Route and traffic prediction</a:t>
            </a:r>
          </a:p>
          <a:p>
            <a:pPr>
              <a:spcAft>
                <a:spcPts val="1500"/>
              </a:spcAft>
              <a:defRPr sz="2000">
                <a:solidFill>
                  <a:srgbClr val="F5F8FC"/>
                </a:solidFill>
              </a:defRPr>
            </a:pPr>
            <a:r>
              <a:t>• Entertainment – Netflix/YouTube recommendations</a:t>
            </a:r>
          </a:p>
          <a:p>
            <a:pPr>
              <a:spcAft>
                <a:spcPts val="1500"/>
              </a:spcAft>
              <a:defRPr sz="2000">
                <a:solidFill>
                  <a:srgbClr val="F5F8FC"/>
                </a:solidFill>
              </a:defRPr>
            </a:pPr>
            <a:r>
              <a:t>• Shopping – Personalized product recommendations</a:t>
            </a:r>
          </a:p>
          <a:p>
            <a:pPr>
              <a:spcAft>
                <a:spcPts val="1500"/>
              </a:spcAft>
              <a:defRPr sz="2000">
                <a:solidFill>
                  <a:srgbClr val="F5F8FC"/>
                </a:solidFill>
              </a:defRPr>
            </a:pPr>
            <a:r>
              <a:t>• Healthcare – Medical image analysis</a:t>
            </a:r>
          </a:p>
          <a:p>
            <a:pPr>
              <a:spcAft>
                <a:spcPts val="1500"/>
              </a:spcAft>
              <a:defRPr sz="2000">
                <a:solidFill>
                  <a:srgbClr val="F5F8FC"/>
                </a:solidFill>
              </a:defRPr>
            </a:pPr>
            <a:r>
              <a:t>• Communication – Chatbots and language translation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84080" y="5440680"/>
            <a:ext cx="1554480" cy="594360"/>
          </a:xfrm>
          <a:prstGeom prst="roundRect">
            <a:avLst/>
          </a:prstGeom>
          <a:solidFill>
            <a:srgbClr val="142A46"/>
          </a:solidFill>
          <a:ln>
            <a:solidFill>
              <a:srgbClr val="50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93808" y="5559552"/>
            <a:ext cx="1325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50AAFF"/>
                </a:solidFill>
              </a:defRPr>
            </a:pPr>
            <a:r>
              <a:t>AI • ML • DL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900" b="1">
                <a:solidFill>
                  <a:srgbClr val="F5F8FC"/>
                </a:solidFill>
              </a:defRPr>
            </a:pPr>
            <a:r>
              <a:t>AI in Different Industries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41148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AFBED2"/>
                </a:solidFill>
              </a:defRPr>
            </a:pPr>
            <a: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>
                <a:solidFill>
                  <a:srgbClr val="F5F8FC"/>
                </a:solidFill>
              </a:defRPr>
            </a:pPr>
            <a:r>
              <a:t>• Healthcare – Disease detection, medical image analysis, drug research</a:t>
            </a:r>
          </a:p>
          <a:p>
            <a:pPr>
              <a:spcAft>
                <a:spcPts val="1500"/>
              </a:spcAft>
              <a:defRPr sz="2000">
                <a:solidFill>
                  <a:srgbClr val="F5F8FC"/>
                </a:solidFill>
              </a:defRPr>
            </a:pPr>
            <a:r>
              <a:t>• Banking – Fraud detection, risk analysis, customer support</a:t>
            </a:r>
          </a:p>
          <a:p>
            <a:pPr>
              <a:spcAft>
                <a:spcPts val="1500"/>
              </a:spcAft>
              <a:defRPr sz="2000">
                <a:solidFill>
                  <a:srgbClr val="F5F8FC"/>
                </a:solidFill>
              </a:defRPr>
            </a:pPr>
            <a:r>
              <a:t>• Transportation – Traffic prediction and driver assistance</a:t>
            </a:r>
          </a:p>
          <a:p>
            <a:pPr>
              <a:spcAft>
                <a:spcPts val="1500"/>
              </a:spcAft>
              <a:defRPr sz="2000">
                <a:solidFill>
                  <a:srgbClr val="F5F8FC"/>
                </a:solidFill>
              </a:defRPr>
            </a:pPr>
            <a:r>
              <a:t>• Education – Personalized learning and AI tutors</a:t>
            </a:r>
          </a:p>
          <a:p>
            <a:pPr>
              <a:spcAft>
                <a:spcPts val="1500"/>
              </a:spcAft>
              <a:defRPr sz="2000">
                <a:solidFill>
                  <a:srgbClr val="F5F8FC"/>
                </a:solidFill>
              </a:defRPr>
            </a:pPr>
            <a:r>
              <a:t>• Manufacturing – Quality inspection, predictive maintenance, industrial robots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84080" y="5440680"/>
            <a:ext cx="1554480" cy="594360"/>
          </a:xfrm>
          <a:prstGeom prst="roundRect">
            <a:avLst/>
          </a:prstGeom>
          <a:solidFill>
            <a:srgbClr val="142A46"/>
          </a:solidFill>
          <a:ln>
            <a:solidFill>
              <a:srgbClr val="50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93808" y="5559552"/>
            <a:ext cx="1325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50AAFF"/>
                </a:solidFill>
              </a:defRPr>
            </a:pPr>
            <a:r>
              <a:t>AI • ML • DL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900" b="1">
                <a:solidFill>
                  <a:srgbClr val="F5F8FC"/>
                </a:solidFill>
              </a:defRPr>
            </a:pPr>
            <a:r>
              <a:t>Advantages of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41148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AFBED2"/>
                </a:solidFill>
              </a:defRPr>
            </a:pPr>
            <a: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>
                <a:solidFill>
                  <a:srgbClr val="F5F8FC"/>
                </a:solidFill>
              </a:defRPr>
            </a:pPr>
            <a:r>
              <a:t>• Automation – Performs repetitive tasks automatically</a:t>
            </a:r>
          </a:p>
          <a:p>
            <a:pPr>
              <a:spcAft>
                <a:spcPts val="1500"/>
              </a:spcAft>
              <a:defRPr sz="2000">
                <a:solidFill>
                  <a:srgbClr val="F5F8FC"/>
                </a:solidFill>
              </a:defRPr>
            </a:pPr>
            <a:r>
              <a:t>• Speed – Processes large amounts of data quickly</a:t>
            </a:r>
          </a:p>
          <a:p>
            <a:pPr>
              <a:spcAft>
                <a:spcPts val="1500"/>
              </a:spcAft>
              <a:defRPr sz="2000">
                <a:solidFill>
                  <a:srgbClr val="F5F8FC"/>
                </a:solidFill>
              </a:defRPr>
            </a:pPr>
            <a:r>
              <a:t>• Accuracy – Can reduce errors in suitable tasks</a:t>
            </a:r>
          </a:p>
          <a:p>
            <a:pPr>
              <a:spcAft>
                <a:spcPts val="1500"/>
              </a:spcAft>
              <a:defRPr sz="2000">
                <a:solidFill>
                  <a:srgbClr val="F5F8FC"/>
                </a:solidFill>
              </a:defRPr>
            </a:pPr>
            <a:r>
              <a:t>• 24/7 Availability – Can operate continuously</a:t>
            </a:r>
          </a:p>
          <a:p>
            <a:pPr>
              <a:spcAft>
                <a:spcPts val="1500"/>
              </a:spcAft>
              <a:defRPr sz="2000">
                <a:solidFill>
                  <a:srgbClr val="F5F8FC"/>
                </a:solidFill>
              </a:defRPr>
            </a:pPr>
            <a:r>
              <a:t>• Decision Support – Finds patterns in large datasets</a:t>
            </a:r>
          </a:p>
          <a:p>
            <a:pPr>
              <a:spcAft>
                <a:spcPts val="1500"/>
              </a:spcAft>
              <a:defRPr sz="2000">
                <a:solidFill>
                  <a:srgbClr val="F5F8FC"/>
                </a:solidFill>
              </a:defRPr>
            </a:pPr>
            <a:r>
              <a:t>• Personalization – Adapts recommendations to users</a:t>
            </a:r>
          </a:p>
          <a:p>
            <a:pPr>
              <a:spcAft>
                <a:spcPts val="1500"/>
              </a:spcAft>
              <a:defRPr sz="2000">
                <a:solidFill>
                  <a:srgbClr val="F5F8FC"/>
                </a:solidFill>
              </a:defRPr>
            </a:pPr>
            <a:r>
              <a:t>• Productivity – Helps people complete tasks faster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84080" y="5440680"/>
            <a:ext cx="1554480" cy="594360"/>
          </a:xfrm>
          <a:prstGeom prst="roundRect">
            <a:avLst/>
          </a:prstGeom>
          <a:solidFill>
            <a:srgbClr val="142A46"/>
          </a:solidFill>
          <a:ln>
            <a:solidFill>
              <a:srgbClr val="50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93808" y="5559552"/>
            <a:ext cx="1325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50AAFF"/>
                </a:solidFill>
              </a:defRPr>
            </a:pPr>
            <a:r>
              <a:t>AI • ML • DL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900" b="1">
                <a:solidFill>
                  <a:srgbClr val="F5F8FC"/>
                </a:solidFill>
              </a:defRPr>
            </a:pPr>
            <a:r>
              <a:t>Challenges &amp; Future of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41148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AFBED2"/>
                </a:solidFill>
              </a:defRPr>
            </a:pPr>
            <a: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>
                <a:solidFill>
                  <a:srgbClr val="F5F8FC"/>
                </a:solidFill>
              </a:defRPr>
            </a:pPr>
            <a:r>
              <a:t>• Challenges: job displacement, privacy concerns, bias, security risks, high development costs, lack of transparency, misuse.</a:t>
            </a:r>
          </a:p>
          <a:p>
            <a:pPr>
              <a:spcAft>
                <a:spcPts val="1500"/>
              </a:spcAft>
              <a:defRPr sz="2000">
                <a:solidFill>
                  <a:srgbClr val="F5F8FC"/>
                </a:solidFill>
              </a:defRPr>
            </a:pPr>
            <a:r>
              <a:t>• Future: healthcare, education, scientific research, robotics, smart cities, autonomous systems, personalized assistants.</a:t>
            </a:r>
          </a:p>
          <a:p>
            <a:pPr>
              <a:spcAft>
                <a:spcPts val="1500"/>
              </a:spcAft>
              <a:defRPr sz="2000">
                <a:solidFill>
                  <a:srgbClr val="F5F8FC"/>
                </a:solidFill>
              </a:defRPr>
            </a:pPr>
            <a:r>
              <a:t>• Key idea: AI should be developed and used responsibly and ethically.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84080" y="5440680"/>
            <a:ext cx="1554480" cy="594360"/>
          </a:xfrm>
          <a:prstGeom prst="roundRect">
            <a:avLst/>
          </a:prstGeom>
          <a:solidFill>
            <a:srgbClr val="142A46"/>
          </a:solidFill>
          <a:ln>
            <a:solidFill>
              <a:srgbClr val="50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93808" y="5559552"/>
            <a:ext cx="1325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50AAFF"/>
                </a:solidFill>
              </a:defRPr>
            </a:pPr>
            <a:r>
              <a:t>AI • ML • DL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900" b="1">
                <a:solidFill>
                  <a:srgbClr val="F5F8FC"/>
                </a:solidFill>
              </a:defRPr>
            </a:pPr>
            <a:r>
              <a:t>Conclusion &amp;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41148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AFBED2"/>
                </a:solidFill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>
                <a:solidFill>
                  <a:srgbClr val="F5F8FC"/>
                </a:solidFill>
              </a:defRPr>
            </a:pPr>
            <a:r>
              <a:t>• AI enables machines to perform tasks associated with human intelligence.</a:t>
            </a:r>
          </a:p>
          <a:p>
            <a:pPr>
              <a:spcAft>
                <a:spcPts val="1500"/>
              </a:spcAft>
              <a:defRPr sz="2000">
                <a:solidFill>
                  <a:srgbClr val="F5F8FC"/>
                </a:solidFill>
              </a:defRPr>
            </a:pPr>
            <a:r>
              <a:t>• It is already part of everyday life and is transforming many industries.</a:t>
            </a:r>
          </a:p>
          <a:p>
            <a:pPr>
              <a:spcAft>
                <a:spcPts val="1500"/>
              </a:spcAft>
              <a:defRPr sz="2000">
                <a:solidFill>
                  <a:srgbClr val="F5F8FC"/>
                </a:solidFill>
              </a:defRPr>
            </a:pPr>
            <a:r>
              <a:t>• Machine Learning and Deep Learning are important parts of modern AI.</a:t>
            </a:r>
          </a:p>
          <a:p>
            <a:pPr>
              <a:spcAft>
                <a:spcPts val="1500"/>
              </a:spcAft>
              <a:defRPr sz="2000">
                <a:solidFill>
                  <a:srgbClr val="F5F8FC"/>
                </a:solidFill>
              </a:defRPr>
            </a:pPr>
            <a:r>
              <a:t>• AI has huge potential, but responsible and ethical use is essential.</a:t>
            </a:r>
          </a:p>
          <a:p>
            <a:pPr>
              <a:spcAft>
                <a:spcPts val="1500"/>
              </a:spcAft>
              <a:defRPr sz="2000">
                <a:solidFill>
                  <a:srgbClr val="F5F8FC"/>
                </a:solidFill>
              </a:defRPr>
            </a:pPr>
            <a:r>
              <a:t>• References: IBM AI, Google AI, Microsoft AI, Stanford AI research, Alan Turing – “Computing Machinery and Intelligence”</a:t>
            </a:r>
          </a:p>
          <a:p>
            <a:pPr>
              <a:spcAft>
                <a:spcPts val="1500"/>
              </a:spcAft>
              <a:defRPr sz="2000">
                <a:solidFill>
                  <a:srgbClr val="F5F8FC"/>
                </a:solidFill>
              </a:defRPr>
            </a:pPr>
            <a:r>
              <a:t>• Thank You!  |  Any Questions?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84080" y="5440680"/>
            <a:ext cx="1554480" cy="594360"/>
          </a:xfrm>
          <a:prstGeom prst="roundRect">
            <a:avLst/>
          </a:prstGeom>
          <a:solidFill>
            <a:srgbClr val="142A46"/>
          </a:solidFill>
          <a:ln>
            <a:solidFill>
              <a:srgbClr val="50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93808" y="5559552"/>
            <a:ext cx="1325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50AAFF"/>
                </a:solidFill>
              </a:defRPr>
            </a:pPr>
            <a:r>
              <a:t>AI • ML • DL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661</Words>
  <Application>Microsoft Office PowerPoint</Application>
  <PresentationFormat>Widescreen</PresentationFormat>
  <Paragraphs>76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Abhinav Abhilash</cp:lastModifiedBy>
  <cp:revision>2</cp:revision>
  <dcterms:created xsi:type="dcterms:W3CDTF">2013-01-27T09:14:16Z</dcterms:created>
  <dcterms:modified xsi:type="dcterms:W3CDTF">2026-08-28T16:45:53Z</dcterms:modified>
  <cp:category/>
</cp:coreProperties>
</file>